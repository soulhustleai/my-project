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D4AF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  <c:pt idx="3">
                    <c:v>Month 9</c:v>
                  </c:pt>
                  <c:pt idx="4">
                    <c:v>Year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1700</c:v>
                </c:pt>
                <c:pt idx="1">
                  <c:v>4250</c:v>
                </c:pt>
                <c:pt idx="2">
                  <c:v>8500</c:v>
                </c:pt>
                <c:pt idx="3">
                  <c:v>12000</c:v>
                </c:pt>
                <c:pt idx="4">
                  <c:v>100000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D4AF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INTELLIGENCE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Pipeline. Protected.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2286000" cy="13716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SoulHustleAI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DayDay  | 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731520"/>
            <a:ext cx="2011680" cy="3840480"/>
          </a:xfrm>
          <a:prstGeom prst="rect">
            <a:avLst/>
          </a:prstGeom>
          <a:solidFill>
            <a:srgbClr val="1E3A5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914400"/>
            <a:ext cx="1645920" cy="3474720"/>
          </a:xfrm>
          <a:prstGeom prst="rect">
            <a:avLst/>
          </a:prstGeom>
          <a:solidFill>
            <a:srgbClr val="0F1D30">
              <a:alpha val="60000"/>
            </a:srgbClr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8288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spc="300" kern="0" dirty="0">
                <a:solidFill>
                  <a:srgbClr val="E8E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POWERED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health insurance agents are bleeding money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7863840" cy="713232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54864" cy="7132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545336"/>
            <a:ext cx="457200" cy="457200"/>
          </a:xfrm>
          <a:prstGeom prst="ellipse">
            <a:avLst/>
          </a:prstGeom>
          <a:solidFill>
            <a:srgbClr val="1A0F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45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 Leads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17647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purchased leads are unqualified, disconnected, or already enrolled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7863840" cy="713232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240280"/>
            <a:ext cx="54864" cy="7132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368296"/>
            <a:ext cx="457200" cy="457200"/>
          </a:xfrm>
          <a:prstGeom prst="ellipse">
            <a:avLst/>
          </a:prstGeom>
          <a:solidFill>
            <a:srgbClr val="1A0F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368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2313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Cost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25877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spend $30-80 per lead with no guarantee of contact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063240"/>
            <a:ext cx="7863840" cy="713232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063240"/>
            <a:ext cx="54864" cy="7132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3191256"/>
            <a:ext cx="457200" cy="457200"/>
          </a:xfrm>
          <a:prstGeom prst="ellipse">
            <a:avLst/>
          </a:prstGeom>
          <a:solidFill>
            <a:srgbClr val="1A0F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3136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Ghosted Calls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00200" y="34107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connect rate on purchased lists is under 15%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886200"/>
            <a:ext cx="7863840" cy="713232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886200"/>
            <a:ext cx="54864" cy="713232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4014216"/>
            <a:ext cx="457200" cy="457200"/>
          </a:xfrm>
          <a:prstGeom prst="ellipse">
            <a:avLst/>
          </a:prstGeom>
          <a:solidFill>
            <a:srgbClr val="1A0F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00200" y="3959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Intelligence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00200" y="42336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scoring, no priority, no context. Just a name and number.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lead intelligence that delivers premium leads in real-time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7863840" cy="3108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786384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 does what no lead vendor can: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2212848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128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1488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demand from people actively searching for health insurance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265176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651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58775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every lead with AI — intent, engagement, eligibility, timing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97280" y="3090672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0906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302666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only qualified leads with context and priority ranking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97280" y="3529584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529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346557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 live dashboard so you see everything in real-time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97280" y="3968496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9684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08760" y="390448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optimizes targeting to reduce cost and increase close rates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from search to close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965960" cy="2926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196596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CAPTURE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2788920"/>
            <a:ext cx="685800" cy="13716"/>
          </a:xfrm>
          <a:prstGeom prst="rect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260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ads reach people actively searching for health insurance coverage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463040"/>
            <a:ext cx="1965960" cy="2926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1463040"/>
            <a:ext cx="19659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8892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788920"/>
            <a:ext cx="685800" cy="13716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29260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 is scored on intent, eligibility, engagement, and timing using AI models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46320" y="1463040"/>
            <a:ext cx="1965960" cy="2926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463040"/>
            <a:ext cx="1965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98348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DELIVERY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2788920"/>
            <a:ext cx="685800" cy="13716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9260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leads are delivered to your dashboard and phone in real-time with full context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1228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040880" y="1463040"/>
            <a:ext cx="1965960" cy="29260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0" y="1463040"/>
            <a:ext cx="1965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17804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CLOSE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80960" y="2788920"/>
            <a:ext cx="685800" cy="1371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29260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lead within 5 minutes. You have context, score, and talking points ready.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AEGIS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included in your lead intelligence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560320" cy="13258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2560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Lead Scoring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 ranked 0-100 on intent, engagement, and eligibility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417320"/>
            <a:ext cx="2560320" cy="13258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417320"/>
            <a:ext cx="2560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Lead Queue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Priority-ranked leads delivered to your phone instantly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560320" cy="13258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17320"/>
            <a:ext cx="2560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visibility with status tracking and analytics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2560320" cy="13258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971800"/>
            <a:ext cx="2560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System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calling with lead context and talking points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2971800"/>
            <a:ext cx="2560320" cy="13258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2971800"/>
            <a:ext cx="2560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1188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Phone/email validation before any lead reaches you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971800"/>
            <a:ext cx="2560320" cy="13258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971800"/>
            <a:ext cx="2560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3520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ROI, conversion, and cost metrics updated in real-time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Quality Tiers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lead is scored and categorized before delivery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786384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554480"/>
            <a:ext cx="685800" cy="68580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A-TIER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intent, verified, actively shopping. Call immediately.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1645920"/>
            <a:ext cx="1280160" cy="32004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645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within 48 hours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514600"/>
            <a:ext cx="54864" cy="9601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2651760"/>
            <a:ext cx="685800" cy="68580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70-93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B-TIER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Interested, partially qualified. Needs one more touchpoint.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0" y="2743200"/>
            <a:ext cx="1280160" cy="320040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743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follow-up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611880"/>
            <a:ext cx="786384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611880"/>
            <a:ext cx="54864" cy="96012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749040"/>
            <a:ext cx="685800" cy="685800"/>
          </a:xfrm>
          <a:prstGeom prst="ellipse">
            <a:avLst/>
          </a:prstGeom>
          <a:solidFill>
            <a:srgbClr val="0A0A0A"/>
          </a:solidFill>
          <a:ln w="25400">
            <a:solidFill>
              <a:srgbClr val="8A8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49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50-69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288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C-TIER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288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stage research. Auto-nurture until ready.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0" y="3840480"/>
            <a:ext cx="1280160" cy="320040"/>
          </a:xfrm>
          <a:prstGeom prst="rect">
            <a:avLst/>
          </a:prstGeom>
          <a:solidFill>
            <a:srgbClr val="8A8A8A">
              <a:alpha val="20000"/>
            </a:srgbClr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840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Nurture sequence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Dashboard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command center for your lead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7863840" cy="32918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786384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691640"/>
            <a:ext cx="1691640" cy="777240"/>
          </a:xfrm>
          <a:prstGeom prst="rect">
            <a:avLst/>
          </a:prstGeom>
          <a:solidFill>
            <a:srgbClr val="0F0F0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Leads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691640"/>
            <a:ext cx="1691640" cy="777240"/>
          </a:xfrm>
          <a:prstGeom prst="rect">
            <a:avLst/>
          </a:prstGeom>
          <a:solidFill>
            <a:srgbClr val="0F0F0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34640" y="2176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Queue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1691640" cy="777240"/>
          </a:xfrm>
          <a:prstGeom prst="rect">
            <a:avLst/>
          </a:prstGeom>
          <a:solidFill>
            <a:srgbClr val="0F0F0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2176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Score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691640"/>
            <a:ext cx="1691640" cy="777240"/>
          </a:xfrm>
          <a:prstGeom prst="rect">
            <a:avLst/>
          </a:prstGeom>
          <a:solidFill>
            <a:srgbClr val="0F0F0F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75120" y="2176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2697480"/>
            <a:ext cx="7223760" cy="32004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3063240"/>
            <a:ext cx="7223760" cy="329184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063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0" y="3063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3063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3063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0" y="3063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 ago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" y="3410712"/>
            <a:ext cx="7223760" cy="32918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3410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Keisha W.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60320" y="3410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0" y="3410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0640" y="3410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0" y="34107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ago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" y="3758184"/>
            <a:ext cx="7223760" cy="329184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0" name="Text 38"/>
          <p:cNvSpPr/>
          <p:nvPr/>
        </p:nvSpPr>
        <p:spPr>
          <a:xfrm>
            <a:off x="960120" y="3758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H.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60320" y="3758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40480" y="3758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0640" y="3758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0" y="3758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hr ago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14400" y="4105656"/>
            <a:ext cx="7223760" cy="32918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6" name="Text 44"/>
          <p:cNvSpPr/>
          <p:nvPr/>
        </p:nvSpPr>
        <p:spPr>
          <a:xfrm>
            <a:off x="960120" y="41056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60320" y="41056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0" y="41056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20640" y="41056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83680" y="41056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 ago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Lead Queue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arrive instantly with context, score, and one-tap calling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786384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6002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 Thompson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Ad  |  2 min ago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2011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 Open Enrollment, Family of 4, Zip: 30301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1691640"/>
            <a:ext cx="10972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691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NOW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786384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51460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26974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Nina Rodriguez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3736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 |  3 min ago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3108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Advantage, Age 67, Current: Aetna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2788920"/>
            <a:ext cx="10972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2788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NOW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611880"/>
            <a:ext cx="7863840" cy="9601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61188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79476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373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Keisha Williams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73736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Ad  |  8 min ago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37360" y="4206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Plan, Self-employed, Budget: $400/mo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32320" y="3886200"/>
            <a:ext cx="10972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3886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NOW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that make this a no-brainer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96596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9659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Cost Per Lead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417320"/>
            <a:ext cx="196596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417320"/>
            <a:ext cx="196596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645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78892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Lead Fee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196596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417320"/>
            <a:ext cx="1965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45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98348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Commission/Close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1417320"/>
            <a:ext cx="1965960" cy="14630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417320"/>
            <a:ext cx="1965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6459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689%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17804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Ad Spend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200400"/>
            <a:ext cx="7863840" cy="132588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00400"/>
            <a:ext cx="54864" cy="13258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breaks down: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6118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DayDay invests $500/mo in ads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37947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Generates ~40-50 qualified leads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39776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Closes 8-12 enrollments (20-25% close rate)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416052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Earns $2,800-$5,400 in commissions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434340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Net profit: $1,700-$4,250/mo after all costs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Projections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estimates based on industry benchmarks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37160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371600"/>
            <a:ext cx="2743200" cy="3108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0" y="1371600"/>
            <a:ext cx="54864" cy="3108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$100K+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350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Target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0" y="2560320"/>
            <a:ext cx="164592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743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estimates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309360" y="3035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20-25% close rate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09360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ad spend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309360" y="3621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monthly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0936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Tax-deductible ads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DayDay's Role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Simple. Focused. Profitable.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6002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1554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the Phone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1874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hot lead comes in, call within 5 minutes. Speed wins.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265176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 Deal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2926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expertise to enroll qualified prospects. You know insurance.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520440"/>
            <a:ext cx="54864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370332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the Outcome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2880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each lead result so AI can optimize and send you better leads.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828800" y="3840480"/>
            <a:ext cx="548640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0" y="3840480"/>
            <a:ext cx="54864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7" name="Text 25"/>
          <p:cNvSpPr/>
          <p:nvPr/>
        </p:nvSpPr>
        <p:spPr>
          <a:xfrm>
            <a:off x="2011680" y="3931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it. No tech. No building. No managing ads. Just close.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Edwin's Role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and managing the machine behind the scenes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4864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develop, and deploy the entire AEGIS lead intelligence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54864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075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 the Tech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models, scoring algorithms, CRM integrations, call routing, dashboards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34056"/>
            <a:ext cx="54864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734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Ads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08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test, and optimize ad campaigns across Facebook and Google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92424"/>
            <a:ext cx="54864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392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 the Leads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666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improve lead quality, scoring accuracy, and delivery speed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54864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the Machine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325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ROI proves out, expand targeting, increase volume, add channels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840480"/>
            <a:ext cx="384048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3840480"/>
            <a:ext cx="54864" cy="5943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focus on closing. I focus on building.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Performance-based. You only pay when you make money.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417320"/>
            <a:ext cx="6400800" cy="23774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417320"/>
            <a:ext cx="6400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$75 - $100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CLOSED ENROLLMENT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788920"/>
            <a:ext cx="274320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971800"/>
            <a:ext cx="13716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upfront cost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2971800"/>
            <a:ext cx="13716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monthly retainer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971800"/>
            <a:ext cx="13716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only on successful enrollments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657600" cy="6858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840480"/>
            <a:ext cx="54864" cy="6858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vendors: $30-80/lead, no guarantee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206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pay whether they answer or not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840480"/>
            <a:ext cx="3931920" cy="6858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84048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AEGIS: $0 until you get paid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Performance-aligned. Your success = our success.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 Spend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 the budget. Start small. Scale with proof.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606040" cy="22860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260604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$500/mo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371600" y="2377440"/>
            <a:ext cx="1143000" cy="1097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leads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~8-10 closes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$2,800-$3,500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0" y="1417320"/>
            <a:ext cx="2606040" cy="22860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141732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$1-3K/mo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206240" y="2377440"/>
            <a:ext cx="1143000" cy="1097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514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~80-200 leads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743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~16-50 closes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$5,600-$17,500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1417320"/>
            <a:ext cx="2606040" cy="22860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417320"/>
            <a:ext cx="2606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$3-10K/mo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7040880" y="2377440"/>
            <a:ext cx="1143000" cy="1097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514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~240-800 leads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743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~48-200 closes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063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$16,800-$70,000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3931920"/>
            <a:ext cx="54864" cy="5943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40233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tax-deductible business expense. You control the dial. Pause anytime. No contracts.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Different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another lead list.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3657600" cy="3108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36576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 Stale lead lists sold to 5+ agents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359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 No scoring or qualification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706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 Pay per lead regardless of quality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054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 No context — just name and number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401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 Cold calls to uninterested people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 No optimization or improvement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3657600" cy="310896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417320"/>
            <a:ext cx="3657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AEGIS 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demand captured in real-time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2359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scores every lead 0-100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2706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only on closed enrollment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20640" y="3054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context: intent, budget, needs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20640" y="3401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leads calling YOU back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0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AI optimization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SoulHustleAI Advantage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getting is worth far more than what you're paying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7863840" cy="1645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54864" cy="1645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AI Lead Scoring Engine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Dashboard + Pipeline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4904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Campaign Management System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Routing + Lead Delivery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8096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+ Reporting Suite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8096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523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Optimization (monthly)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80960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0" y="3337560"/>
            <a:ext cx="4572000" cy="68580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0" y="3337560"/>
            <a:ext cx="4572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$15,500+ Value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28600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you at zero upfront cost.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160520"/>
            <a:ext cx="54864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206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Dedicated support  |  Monthly strategy calls  |  Priority feature requests  |  Scaling guidance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Launch Plan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revenue in 21 days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7498080" cy="228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2267712"/>
            <a:ext cx="246888" cy="24688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1-14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setup, ad accounts, landing pages, AI calibration, dashboard deployment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88920" y="2267712"/>
            <a:ext cx="246888" cy="24688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LEADS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go live, leads start flowing into your dashboard and phone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26280" y="2267712"/>
            <a:ext cx="246888" cy="2468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CLOSE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your first successful enrollment from an AEGIS lead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63640" y="2267712"/>
            <a:ext cx="246888" cy="24688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targeting, improve scoring, increase close rates based on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01000" y="2267712"/>
            <a:ext cx="246888" cy="2468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0664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27432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ad spend, expand targeting, compound the results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DayDay Needs to 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things. That's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60604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260604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164592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the Ads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2743200"/>
            <a:ext cx="1143000" cy="10973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803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$500-$1,000/month in ad spend.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 the budget. Pause anytime.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tax-deductible business expense.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1417320"/>
            <a:ext cx="260604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41732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164592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1188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Calls Fast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06240" y="2743200"/>
            <a:ext cx="1143000" cy="10973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28803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to hot leads within 5 minutes.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contact = highest close predictor.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calling from your dashboard.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2606040" cy="28346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417320"/>
            <a:ext cx="26060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6459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4652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Honestly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2743200"/>
            <a:ext cx="1143000" cy="1097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28803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outcomes for every lead.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data trains the AI to improve.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data = better leads = more money.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D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SoulHustleAI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0" y="4800600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371600" y="914400"/>
            <a:ext cx="6400800" cy="347472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914400"/>
            <a:ext cx="6400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close.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build the machine that feeds you.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0" y="2926080"/>
            <a:ext cx="274320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risk.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upfront cost.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tech headaches.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qualified leads delivered to your phone, ready to close.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4114800"/>
            <a:ext cx="2743200" cy="502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50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GO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2743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This Together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228600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514600"/>
            <a:ext cx="228600" cy="228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14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partnership and agree on terms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898648"/>
            <a:ext cx="228600" cy="228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986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852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ad account and initial budget ($500)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282696"/>
            <a:ext cx="228600" cy="228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826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32369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build sprint — system goes live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3666744"/>
            <a:ext cx="228600" cy="2286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667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621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leads flow, first closes happen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914400"/>
            <a:ext cx="2926080" cy="3474720"/>
          </a:xfrm>
          <a:prstGeom prst="rect">
            <a:avLst/>
          </a:prstGeom>
          <a:solidFill>
            <a:srgbClr val="0F1D30">
              <a:alpha val="60000"/>
            </a:srgbClr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SoulHustleAI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0" y="1645920"/>
            <a:ext cx="1645920" cy="1097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Edwin Bottex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Systems Architect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0" y="2560320"/>
            <a:ext cx="1645920" cy="1097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+ AI + Revenue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3200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soulhustleai.com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 |  Lead Intelligence System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AEGIS: Lead Intelligence System</dc:title>
  <dc:subject>PptxGenJS Presentation</dc:subject>
  <dc:creator>SoulHustleAI</dc:creator>
  <cp:lastModifiedBy>SoulHustleAI</cp:lastModifiedBy>
  <cp:revision>1</cp:revision>
  <dcterms:created xsi:type="dcterms:W3CDTF">2026-03-25T11:27:40Z</dcterms:created>
  <dcterms:modified xsi:type="dcterms:W3CDTF">2026-03-25T11:27:40Z</dcterms:modified>
</cp:coreProperties>
</file>